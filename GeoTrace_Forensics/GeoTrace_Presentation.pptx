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2049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.png"/><Relationship Id="rId10" Type="http://schemas.openxmlformats.org/officeDocument/2006/relationships/image" Target="../media/image15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46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64008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GeoTrace Forensics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Image Metadata &amp; Geolocation Analysis Tool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434840" y="3291840"/>
            <a:ext cx="91440" cy="914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617720" y="3291840"/>
            <a:ext cx="91440" cy="914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251960" y="3291840"/>
            <a:ext cx="91440" cy="914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 Selim ElSaadany  •  Lojain Emad  • Mohamed Moussa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Sewedy University of Technology  —  Polytechnic of Egypt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 Dr. Mariam Adel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images carry invisible evidence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photo contains hidden EXIF metadata: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coordinates (where it was taken)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(when it was taken)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make &amp; model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software traces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device fingerprint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937760" y="1554480"/>
            <a:ext cx="3749040" cy="3108960"/>
          </a:xfrm>
          <a:prstGeom prst="rect">
            <a:avLst/>
          </a:prstGeom>
          <a:solidFill>
            <a:srgbClr val="F4F1DE"/>
          </a:solidFill>
          <a:ln w="63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78308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120640" y="24688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Investigators need to: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212080" y="2880360"/>
            <a:ext cx="3383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this hidden data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image authenticity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chain of custody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court-ready reports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13816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77777"/>
                </a:solidFill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desktop forensic tool with 7 integrated features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51760" cy="1463040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6002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148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48716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integrity verification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46120" y="1463040"/>
            <a:ext cx="2651760" cy="1463040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6002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37560" y="2148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EXIF Extraction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337560" y="248716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image formats supported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35040" y="1463040"/>
            <a:ext cx="2651760" cy="1463040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160020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26480" y="2148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126480" y="248716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plotted on Folium maps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" y="3108960"/>
            <a:ext cx="2651760" cy="1463040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4480" y="324612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8640" y="3794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48640" y="41330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forensic checks per image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246120" y="3108960"/>
            <a:ext cx="2651760" cy="1463040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3400" y="324612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337560" y="3794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Manipulation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3337560" y="41330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+ noise + metadata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035040" y="3108960"/>
            <a:ext cx="2651760" cy="1463040"/>
          </a:xfrm>
          <a:prstGeom prst="rect">
            <a:avLst/>
          </a:prstGeom>
          <a:solidFill>
            <a:srgbClr val="FAFAFA"/>
          </a:solidFill>
          <a:ln w="635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320" y="3246120"/>
            <a:ext cx="457200" cy="4572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126480" y="3794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Custody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6126480" y="41330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Tamper-proof evidence log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813816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77777"/>
                </a:solidFill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with free, open-source Python libraries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591056"/>
            <a:ext cx="292608" cy="29260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645920"/>
            <a:ext cx="182880" cy="182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5544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PyQt5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33172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GUI framework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846320" y="1591056"/>
            <a:ext cx="292608" cy="29260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184" y="1645920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57800" y="15544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53796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 &amp; I/O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1975104"/>
            <a:ext cx="292608" cy="29260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2029968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51560" y="193852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ExifRead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2331720" y="193852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extraction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846320" y="1975104"/>
            <a:ext cx="292608" cy="29260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1184" y="2029968"/>
            <a:ext cx="182880" cy="1828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257800" y="193852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6537960" y="193852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Leaflet maps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40080" y="2359152"/>
            <a:ext cx="292608" cy="29260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" y="2414016"/>
            <a:ext cx="182880" cy="1828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51560" y="232257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2331720" y="232257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&amp; noise analysis math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4846320" y="2359152"/>
            <a:ext cx="292608" cy="29260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01184" y="2414016"/>
            <a:ext cx="182880" cy="1828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257800" y="232257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6537960" y="232257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 generation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640080" y="2743200"/>
            <a:ext cx="292608" cy="29260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4944" y="2798064"/>
            <a:ext cx="182880" cy="18288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051560" y="270662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400" dirty="0"/>
          </a:p>
        </p:txBody>
      </p:sp>
      <p:sp>
        <p:nvSpPr>
          <p:cNvPr id="31" name="Text 22"/>
          <p:cNvSpPr/>
          <p:nvPr/>
        </p:nvSpPr>
        <p:spPr>
          <a:xfrm>
            <a:off x="2331720" y="270662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Single-file evidence database</a:t>
            </a:r>
            <a:endParaRPr lang="en-US" sz="1200" dirty="0"/>
          </a:p>
        </p:txBody>
      </p:sp>
      <p:sp>
        <p:nvSpPr>
          <p:cNvPr id="32" name="Shape 23"/>
          <p:cNvSpPr/>
          <p:nvPr/>
        </p:nvSpPr>
        <p:spPr>
          <a:xfrm>
            <a:off x="4846320" y="2743200"/>
            <a:ext cx="292608" cy="29260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01184" y="2798064"/>
            <a:ext cx="182880" cy="18288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5257800" y="270662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hashlib</a:t>
            </a:r>
            <a:endParaRPr lang="en-US" sz="1400" dirty="0"/>
          </a:p>
        </p:txBody>
      </p:sp>
      <p:sp>
        <p:nvSpPr>
          <p:cNvPr id="35" name="Text 25"/>
          <p:cNvSpPr/>
          <p:nvPr/>
        </p:nvSpPr>
        <p:spPr>
          <a:xfrm>
            <a:off x="6537960" y="270662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cryptographic hashing</a:t>
            </a:r>
            <a:endParaRPr lang="en-US" sz="1200" dirty="0"/>
          </a:p>
        </p:txBody>
      </p:sp>
      <p:sp>
        <p:nvSpPr>
          <p:cNvPr id="36" name="Text 26"/>
          <p:cNvSpPr/>
          <p:nvPr/>
        </p:nvSpPr>
        <p:spPr>
          <a:xfrm>
            <a:off x="813816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77777"/>
                </a:solidFill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separation of concerns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371600" y="1554480"/>
            <a:ext cx="6400800" cy="7772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554480" y="1600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192024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  •  ui/main_window.py  •  ui/style.qss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0" y="2377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77777"/>
                </a:solidFill>
              </a:rPr>
              <a:t>↓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371600" y="2697480"/>
            <a:ext cx="6400800" cy="777240"/>
          </a:xfrm>
          <a:prstGeom prst="rect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554480" y="2743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Layer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306324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specialized modules (EXIF, GPS, AI, blockchain, etc.)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0" y="3520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77777"/>
                </a:solidFill>
              </a:rPr>
              <a:t>↓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371600" y="3840480"/>
            <a:ext cx="6400800" cy="7772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54480" y="3886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420624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  •  blockchain.json  •  case artifacts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3816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77777"/>
                </a:solidFill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Workflow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an image is added to a case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54380" y="182880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5438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88620" y="24688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8620" y="27889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fingerprint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68780" y="2103120"/>
            <a:ext cx="137160" cy="0"/>
          </a:xfrm>
          <a:prstGeom prst="line">
            <a:avLst/>
          </a:prstGeom>
          <a:noFill/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171700" y="182880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7170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805940" y="24688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05940" y="27889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EXIF metadata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086100" y="2103120"/>
            <a:ext cx="137160" cy="0"/>
          </a:xfrm>
          <a:prstGeom prst="line">
            <a:avLst/>
          </a:prstGeom>
          <a:noFill/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589020" y="182880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58902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223260" y="24688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23260" y="27889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to decimal degrees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03420" y="2103120"/>
            <a:ext cx="137160" cy="0"/>
          </a:xfrm>
          <a:prstGeom prst="line">
            <a:avLst/>
          </a:prstGeom>
          <a:noFill/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006340" y="182880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0634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640580" y="24688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40580" y="27889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9 anomaly checks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20740" y="2103120"/>
            <a:ext cx="137160" cy="0"/>
          </a:xfrm>
          <a:prstGeom prst="line">
            <a:avLst/>
          </a:prstGeom>
          <a:noFill/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423660" y="182880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2366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057900" y="24688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057900" y="27889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blockchain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38060" y="2103120"/>
            <a:ext cx="137160" cy="0"/>
          </a:xfrm>
          <a:prstGeom prst="line">
            <a:avLst/>
          </a:prstGeom>
          <a:noFill/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840980" y="182880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84098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475220" y="24688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475220" y="27889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to SQLite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steps run automatically when 'Add Images' is clicked.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13816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77777"/>
                </a:solidFill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005840" cy="3657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554480" y="228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Manipulation Detector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forensic techniques combined into one verdict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502920" cy="5029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1554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Level Analysis (ELA)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19202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Re-saves image at 75% JPEG quality. Edited regions compress differently and appear as bright spots.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0" y="1737360"/>
            <a:ext cx="1828800" cy="411480"/>
          </a:xfrm>
          <a:prstGeom prst="rect">
            <a:avLst/>
          </a:prstGeom>
          <a:solidFill>
            <a:srgbClr val="F4F1DE"/>
          </a:solidFill>
          <a:ln w="63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0" y="1737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Weight: 50%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502920" cy="5029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2468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Consistency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28346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Divides image into 4 quadrants. Authentic photos have uniform sensor noise; edited ones vary.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0" y="2651760"/>
            <a:ext cx="1828800" cy="411480"/>
          </a:xfrm>
          <a:prstGeom prst="rect">
            <a:avLst/>
          </a:prstGeom>
          <a:solidFill>
            <a:srgbClr val="F4F1DE"/>
          </a:solidFill>
          <a:ln w="63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83680" y="2651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Weight: 30%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502920" cy="5029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88720" y="3383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Cross-Check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8720" y="37490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for Photoshop traces, date mismatches, missing thumbnails, GPS stripping signs.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83680" y="3566160"/>
            <a:ext cx="1828800" cy="411480"/>
          </a:xfrm>
          <a:prstGeom prst="rect">
            <a:avLst/>
          </a:prstGeom>
          <a:solidFill>
            <a:srgbClr val="F4F1DE"/>
          </a:solidFill>
          <a:ln w="63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83680" y="35661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Weight: 20%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3816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77777"/>
                </a:solidFill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005840" cy="3657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554480" y="228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Chain of Custody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Cryptographically-linked evidence log — tampering is instantly detected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2377440" cy="2011680"/>
          </a:xfrm>
          <a:prstGeom prst="rect">
            <a:avLst/>
          </a:prstGeom>
          <a:solidFill>
            <a:srgbClr val="F4F1DE"/>
          </a:solidFill>
          <a:ln w="12700">
            <a:solidFill>
              <a:srgbClr val="264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2377440" cy="411480"/>
          </a:xfrm>
          <a:prstGeom prst="rect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#0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14884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image_1.jpg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hash: </a:t>
            </a: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a3f9d2b1...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prev: </a:t>
            </a: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0000...0000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by: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17520" y="2651760"/>
            <a:ext cx="365760" cy="0"/>
          </a:xfrm>
          <a:prstGeom prst="line">
            <a:avLst/>
          </a:prstGeom>
          <a:noFill/>
          <a:ln w="25400">
            <a:solidFill>
              <a:srgbClr val="E76F5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83280" y="1645920"/>
            <a:ext cx="2377440" cy="2011680"/>
          </a:xfrm>
          <a:prstGeom prst="rect">
            <a:avLst/>
          </a:prstGeom>
          <a:solidFill>
            <a:srgbClr val="F4F1DE"/>
          </a:solidFill>
          <a:ln w="12700">
            <a:solidFill>
              <a:srgbClr val="264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83280" y="1645920"/>
            <a:ext cx="2377440" cy="411480"/>
          </a:xfrm>
          <a:prstGeom prst="rect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8328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#1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20440" y="214884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image_2.jpg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hash: </a:t>
            </a: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a3f9d2b1...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prev: </a:t>
            </a: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abc123...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by: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60720" y="2651760"/>
            <a:ext cx="365760" cy="0"/>
          </a:xfrm>
          <a:prstGeom prst="line">
            <a:avLst/>
          </a:prstGeom>
          <a:noFill/>
          <a:ln w="25400">
            <a:solidFill>
              <a:srgbClr val="E76F5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26480" y="1645920"/>
            <a:ext cx="2377440" cy="2011680"/>
          </a:xfrm>
          <a:prstGeom prst="rect">
            <a:avLst/>
          </a:prstGeom>
          <a:solidFill>
            <a:srgbClr val="F4F1DE"/>
          </a:solidFill>
          <a:ln w="12700">
            <a:solidFill>
              <a:srgbClr val="264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26480" y="1645920"/>
            <a:ext cx="2377440" cy="411480"/>
          </a:xfrm>
          <a:prstGeom prst="rect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2648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#2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63640" y="214884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image_3.jpg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hash: </a:t>
            </a: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a3f9d2b1...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prev: </a:t>
            </a: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def456...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by: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any block → next block's link breaks → entire chain fails verification.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3816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77777"/>
                </a:solidFill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Division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member owns specific files and a bonus feature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1463040"/>
            <a:ext cx="274320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2743200" cy="6400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5361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Selim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20040" y="1828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Engine + AI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main_window.py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exif_extractor.py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hash_calculator.py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ai_detector.py  ★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463040"/>
            <a:ext cx="274320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264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0" y="1463040"/>
            <a:ext cx="2743200" cy="640080"/>
          </a:xfrm>
          <a:prstGeom prst="rect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0" y="15361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Lojain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200400" y="1828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+ Blockchain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224028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anomaly_detector.py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blockchain_log.py  ★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report_generator.py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export_manager.py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style.qss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1463040"/>
            <a:ext cx="274320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80760" y="1463040"/>
            <a:ext cx="2743200" cy="6400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80760" y="15361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Moussa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080760" y="1828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+ Geolocation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224028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db_manager.py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schema.sql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gps_decoder.py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map_generator.py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timeline_generator.py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= bonus feature owned by this member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13816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77777"/>
                </a:solidFill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646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37160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468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5200" dirty="0"/>
          </a:p>
        </p:txBody>
      </p:sp>
      <p:sp>
        <p:nvSpPr>
          <p:cNvPr id="4" name="Text 1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minutes  •  3 members  •  All features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Selim → Moussa → Lojain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Results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authentic and tampered evidence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22860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Verdict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DSCN0010.jpg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exif-samples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Likely Authentic 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DSCN0029.jpg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exif-samples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Likely Authentic 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tampered_1.jpg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CASIA dataset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Manipulated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Probably Manipulated 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tampered_2.jpg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CASIA dataset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Manipulated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Probably Manipulated 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tampered_3.jpg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CASIA dataset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Manipulated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Probably Manipulated 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F4F1DE"/>
          </a:solidFill>
          <a:ln w="63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5/5 correct verdicts on test set  •  100% blockchain integrity verification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13816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77777"/>
                </a:solidFill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we hit and how we solved them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5544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EXIF formats across cameras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0" y="15544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A9D8F"/>
                </a:solidFill>
              </a:rPr>
              <a:t>→</a:t>
            </a:r>
            <a:endParaRPr lang="en-US" sz="2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64592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0" y="15544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Pillow + ExifRead libraries for maximum coverage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2316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14400" y="23317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stored as DMS rationals, not decimals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4572000" y="23317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A9D8F"/>
                </a:solidFill>
              </a:rPr>
              <a:t>→</a:t>
            </a:r>
            <a:endParaRPr lang="en-US" sz="2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423160"/>
            <a:ext cx="320040" cy="3200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486400" y="23317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decoder with N/S/E/W reference normalization</a:t>
            </a:r>
            <a:endParaRPr lang="en-US" sz="13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0"/>
            <a:ext cx="320040" cy="32004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14400" y="31089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to prove evidence wasn't altered later</a:t>
            </a:r>
            <a:endParaRPr lang="en-US" sz="1300" dirty="0"/>
          </a:p>
        </p:txBody>
      </p:sp>
      <p:sp>
        <p:nvSpPr>
          <p:cNvPr id="16" name="Text 9"/>
          <p:cNvSpPr/>
          <p:nvPr/>
        </p:nvSpPr>
        <p:spPr>
          <a:xfrm>
            <a:off x="4572000" y="31089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A9D8F"/>
                </a:solidFill>
              </a:rPr>
              <a:t>→</a:t>
            </a:r>
            <a:endParaRPr lang="en-US" sz="22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200400"/>
            <a:ext cx="320040" cy="32004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486400" y="31089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lightweight blockchain with SHA-256 chaining</a:t>
            </a:r>
            <a:endParaRPr lang="en-US" sz="13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977640"/>
            <a:ext cx="320040" cy="32004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914400" y="3886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detection without heavy ML libraries</a:t>
            </a:r>
            <a:endParaRPr lang="en-US" sz="1300" dirty="0"/>
          </a:p>
        </p:txBody>
      </p:sp>
      <p:sp>
        <p:nvSpPr>
          <p:cNvPr id="21" name="Text 12"/>
          <p:cNvSpPr/>
          <p:nvPr/>
        </p:nvSpPr>
        <p:spPr>
          <a:xfrm>
            <a:off x="4572000" y="38862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A9D8F"/>
                </a:solidFill>
              </a:rPr>
              <a:t>→</a:t>
            </a:r>
            <a:endParaRPr lang="en-US" sz="22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977640"/>
            <a:ext cx="320040" cy="32004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486400" y="38862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ELA + noise + metadata heuristics</a:t>
            </a:r>
            <a:endParaRPr lang="en-US" sz="1300" dirty="0"/>
          </a:p>
        </p:txBody>
      </p:sp>
      <p:sp>
        <p:nvSpPr>
          <p:cNvPr id="24" name="Text 14"/>
          <p:cNvSpPr/>
          <p:nvPr/>
        </p:nvSpPr>
        <p:spPr>
          <a:xfrm>
            <a:off x="813816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77777"/>
                </a:solidFill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about what our tool cannot do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works best on JPEG — PNG and other lossless formats have limited accuracy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verdict is heuristic-based — not a deep-learning model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data depends on the original camera/phone recording it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platforms often strip EXIF on upload — appears as anomaly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Single-investigator design — no multi-user collaboration yet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protects the log, not the source image files themselves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3816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77777"/>
                </a:solidFill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we'd take this next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71907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554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AI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280160" y="196596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CNN on CASIA dataset for higher accuracy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55448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71907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77840" y="1554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Image Search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5577840" y="196596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if photos appear elsewhere online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301752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182112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0175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Multi-Investigator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280160" y="342900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cases with role-based access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754880" y="301752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3182112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577840" y="30175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Blockchain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5577840" y="342900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chain across multiple workstations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813816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77777"/>
                </a:solidFill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 GitHub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repo with full code, docs, and test data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1554480"/>
            <a:ext cx="7315200" cy="914400"/>
          </a:xfrm>
          <a:prstGeom prst="rect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7830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645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828800" y="2011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github.com/[your-username]/GeoTrace-Forensics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2697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in repository: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88720" y="3154680"/>
            <a:ext cx="6766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  —  setup &amp; usage guide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  —  Python dependencies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Investigation_Guide.docx  —  forensic workflow manual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Demo_Cheat_Sheet.docx  —  presentation script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test_images/  —  sample evidence (GPS + tampered)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13816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77777"/>
                </a:solidFill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646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0" y="3383280"/>
            <a:ext cx="1828800" cy="0"/>
          </a:xfrm>
          <a:prstGeom prst="line">
            <a:avLst/>
          </a:prstGeom>
          <a:noFill/>
          <a:ln w="254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GeoTrace Forensics Team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Selim  •  Lojain  •  Moussa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994</Words>
  <Application>Microsoft Office PowerPoint</Application>
  <PresentationFormat>On-screen Show (16:9)</PresentationFormat>
  <Paragraphs>250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GeoTrace Forensics</dc:title>
  <dc:subject>PptxGenJS Presentation</dc:subject>
  <dc:creator>Selim, Lojain, Moussa</dc:creator>
  <cp:lastModifiedBy>Selim Ashraf Salah Eldin Hussein El saadany</cp:lastModifiedBy>
  <cp:revision>2</cp:revision>
  <dcterms:created xsi:type="dcterms:W3CDTF">2026-05-11T18:44:20Z</dcterms:created>
  <dcterms:modified xsi:type="dcterms:W3CDTF">2026-05-11T18:55:00Z</dcterms:modified>
</cp:coreProperties>
</file>